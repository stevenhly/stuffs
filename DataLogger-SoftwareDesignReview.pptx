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9" r:id="rId6"/>
    <p:sldId id="273" r:id="rId7"/>
    <p:sldId id="280" r:id="rId8"/>
    <p:sldId id="272" r:id="rId9"/>
    <p:sldId id="281" r:id="rId10"/>
    <p:sldId id="278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FA32F4-C413-4EA2-989B-F2D03190F268}" v="1" dt="2026-07-27T15:25:01.8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-54243"/>
            <a:ext cx="12192001" cy="4803982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617D5-B90F-45FD-B3DA-A0A816BE6062}"/>
              </a:ext>
            </a:extLst>
          </p:cNvPr>
          <p:cNvSpPr/>
          <p:nvPr userDrawn="1"/>
        </p:nvSpPr>
        <p:spPr>
          <a:xfrm>
            <a:off x="0" y="4661453"/>
            <a:ext cx="12191999" cy="21965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0DA0C76-AEC9-4E07-A095-29386CBD0975}"/>
              </a:ext>
            </a:extLst>
          </p:cNvPr>
          <p:cNvSpPr txBox="1">
            <a:spLocks/>
          </p:cNvSpPr>
          <p:nvPr userDrawn="1"/>
        </p:nvSpPr>
        <p:spPr>
          <a:xfrm>
            <a:off x="4370832" y="6556248"/>
            <a:ext cx="3465576" cy="285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9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414042"/>
                </a:solidFill>
              </a:rPr>
              <a:t>LOCKHEED MARTIN PROPRIETARY INFORMATION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Full Title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EC51FD09-7A7E-68BC-55B2-2AA99FDC3A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079" y="2743200"/>
            <a:ext cx="8937553" cy="8811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4000" b="1" kern="1200" dirty="0" smtClean="0">
                <a:solidFill>
                  <a:schemeClr val="bg1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Title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AC76D-6CDF-4CA7-F62C-39F36B29F3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B8FE86-D9C5-04B6-3D07-CE41CA9C11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82982" y="330426"/>
            <a:ext cx="1973179" cy="197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88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 Title Slide Three 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6617D5-B90F-45FD-B3DA-A0A816BE6062}"/>
              </a:ext>
            </a:extLst>
          </p:cNvPr>
          <p:cNvSpPr/>
          <p:nvPr userDrawn="1"/>
        </p:nvSpPr>
        <p:spPr>
          <a:xfrm>
            <a:off x="0" y="4661453"/>
            <a:ext cx="12191999" cy="21965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0DA0C76-AEC9-4E07-A095-29386CBD0975}"/>
              </a:ext>
            </a:extLst>
          </p:cNvPr>
          <p:cNvSpPr txBox="1">
            <a:spLocks/>
          </p:cNvSpPr>
          <p:nvPr userDrawn="1"/>
        </p:nvSpPr>
        <p:spPr>
          <a:xfrm>
            <a:off x="4370832" y="6556248"/>
            <a:ext cx="3463048" cy="285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9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414042"/>
                </a:solidFill>
              </a:rPr>
              <a:t>LOCKHEED MARTIN PROPRIETARY INFORMATION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DB7EFD5-F946-484D-A6C2-5B2D6182EA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-28"/>
            <a:ext cx="405288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E7EBE47-C42F-463E-A18D-5FA034BA22C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69556" y="-28"/>
            <a:ext cx="405288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328F9AF-62EA-4F6E-BF8B-65716F02AC8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139112" y="-28"/>
            <a:ext cx="405288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Full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4654799"/>
            <a:ext cx="12196259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DA93E-93EF-F094-1611-0270891435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0FD09B-4EF7-809E-369B-FADCC16363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6896" y="5862461"/>
            <a:ext cx="792978" cy="79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14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tl Title Slide 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6617D5-B90F-45FD-B3DA-A0A816BE6062}"/>
              </a:ext>
            </a:extLst>
          </p:cNvPr>
          <p:cNvSpPr/>
          <p:nvPr userDrawn="1"/>
        </p:nvSpPr>
        <p:spPr>
          <a:xfrm>
            <a:off x="0" y="4661453"/>
            <a:ext cx="12191999" cy="21965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0DA0C76-AEC9-4E07-A095-29386CBD0975}"/>
              </a:ext>
            </a:extLst>
          </p:cNvPr>
          <p:cNvSpPr txBox="1">
            <a:spLocks/>
          </p:cNvSpPr>
          <p:nvPr userDrawn="1"/>
        </p:nvSpPr>
        <p:spPr>
          <a:xfrm>
            <a:off x="4370832" y="6556248"/>
            <a:ext cx="3463048" cy="285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9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414042"/>
                </a:solidFill>
              </a:rPr>
              <a:t>LOCKHEED MARTIN PROPRIETARY INFORMATION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DB7EFD5-F946-484D-A6C2-5B2D6182EA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-28"/>
            <a:ext cx="1219199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Name, Full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4654799"/>
            <a:ext cx="12196259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9DD66F-5F4F-A64F-AA49-73E46708F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B07806-7EEC-F9CB-299D-80FB87C14A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6896" y="5862461"/>
            <a:ext cx="792978" cy="79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58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570CFE-0D40-4114-88B7-2BA43DB1F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41C60BF-CFA2-410A-B843-9CEAFCB51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/>
            </a:lvl5pPr>
            <a:lvl6pPr marL="22860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0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F92B20-A5A6-4909-A73A-C6C85E980E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2262C48F-4708-42DE-8E80-44A3B0CD34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705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10A8ED32-609D-7C19-DC91-9420513683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EC690-6145-8029-9086-E6C77A2BE867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FCAB81-8154-13EA-C04E-021F9D8F2C98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7F3881-0CD4-BBC4-DE0D-7670831C26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C58E0-9EB4-F7CA-5A9C-5B895CC67F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738AFC3-2219-CFC2-C05F-493330CE8DE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5200" y="1222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81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469F77-D9CE-43A9-9C6F-5AAA6A3F0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720C3-3808-4215-B0DC-3782872EA2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582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3D48B3-C899-488E-8ADA-A4B90B205F83}"/>
              </a:ext>
            </a:extLst>
          </p:cNvPr>
          <p:cNvSpPr/>
          <p:nvPr userDrawn="1"/>
        </p:nvSpPr>
        <p:spPr>
          <a:xfrm>
            <a:off x="8815359" y="3970165"/>
            <a:ext cx="2999232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72F4A05-4C17-6B0C-4237-3C99BA5649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FD7036-DFAC-C0D0-2B4F-9F5AB7319F21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2B4B07-ED07-4D34-9055-9EC94E13AC2F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D3165D5-CC4A-79AC-0A77-539119C204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E6AB36C-0DDE-1319-20BE-D93E1A42FB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A69C554-1F53-B780-7B3B-DF786D87FEF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5200" y="1222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0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Support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162D26B-0852-410F-A36B-EAD531A8E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1D68753-5D2F-461F-AF48-50A66CC7DD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AC75BF9-3914-4E65-81BD-B09D23C768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41438"/>
            <a:ext cx="5324061" cy="397009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16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2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>
              <a:lnSpc>
                <a:spcPct val="100000"/>
              </a:lnSpc>
              <a:spcBef>
                <a:spcPts val="600"/>
              </a:spcBef>
              <a:defRPr sz="11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4D7AB-5058-4107-958E-EF7D6E1E8288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096000" y="1189033"/>
            <a:ext cx="5486399" cy="436694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9260B9F-C9A0-BBBB-3CA4-6E840BB9D151}"/>
              </a:ext>
            </a:extLst>
          </p:cNvPr>
          <p:cNvSpPr txBox="1">
            <a:spLocks/>
          </p:cNvSpPr>
          <p:nvPr userDrawn="1"/>
        </p:nvSpPr>
        <p:spPr>
          <a:xfrm>
            <a:off x="356616" y="6554624"/>
            <a:ext cx="3463048" cy="285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9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b="0" dirty="0">
                <a:solidFill>
                  <a:srgbClr val="414042"/>
                </a:solidFill>
                <a:latin typeface="+mn-lt"/>
                <a:cs typeface="Arial" panose="020B0604020202020204" pitchFamily="34" charset="0"/>
              </a:rPr>
              <a:t>LOCKHEED MARTIN PROPRIETARY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3B6B8-C436-FC94-8BB3-4696F9F37AC1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FC37CB-21AF-6E48-1CDD-40DCB0386010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24F8BE6-551A-55B6-B72C-82ABA7F396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CD6DE1-784E-8FDD-95FE-1C064459C7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49F0314-62AE-EF7A-54E3-238761AD0C5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5200" y="1222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952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469F77-D9CE-43A9-9C6F-5AAA6A3F0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9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03961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705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3D48B3-C899-488E-8ADA-A4B90B205F83}"/>
              </a:ext>
            </a:extLst>
          </p:cNvPr>
          <p:cNvSpPr/>
          <p:nvPr userDrawn="1"/>
        </p:nvSpPr>
        <p:spPr>
          <a:xfrm>
            <a:off x="8797177" y="3970165"/>
            <a:ext cx="3050266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42C592AB-64AC-4BED-9399-369D4231D92E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09599" y="1282149"/>
            <a:ext cx="3610734" cy="33295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6" name="Chart Placeholder 4">
            <a:extLst>
              <a:ext uri="{FF2B5EF4-FFF2-40B4-BE49-F238E27FC236}">
                <a16:creationId xmlns:a16="http://schemas.microsoft.com/office/drawing/2014/main" id="{14525D09-DF4B-465A-B4C9-783517805A7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503961" y="1282148"/>
            <a:ext cx="3610734" cy="33295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7CAF2C09-6C4F-DCFF-85A3-4CF6EC0DC1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AC68E-EACD-8069-F1FF-E36CB9B71FD4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72B136-9813-EAA9-D4CC-EDDD2496ED13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EFA2D2-28D0-4A07-1BB5-A3ACB8AAF5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5E8B924-70A3-C6FA-25EB-D0B799934C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FE2B08F-6656-90ED-C239-7C04B0407C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5200" y="1222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2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720C3-3808-4215-B0DC-3782872EA2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9A26BD1-014A-4113-86CB-7536D7778B1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788" y="0"/>
            <a:ext cx="373221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D14C3FAA-13C8-D347-8F54-8B7489B22B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DDA44-06EA-FE46-A4E7-BFE4BA2CB0A2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776967-DA06-9B38-4E08-CC52416C6041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949578-0E33-BC86-4767-E27400D041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B6759A7-06CF-87C2-3CF9-55999A6E25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833B261-348D-C094-835E-F7A96D846A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59833" y="6406805"/>
            <a:ext cx="417076" cy="41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981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6595D06-54FB-4096-9761-C161613AAED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788" y="0"/>
            <a:ext cx="373221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9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03961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42C592AB-64AC-4BED-9399-369D4231D92E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09599" y="1470993"/>
            <a:ext cx="3610734" cy="31406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6" name="Chart Placeholder 4">
            <a:extLst>
              <a:ext uri="{FF2B5EF4-FFF2-40B4-BE49-F238E27FC236}">
                <a16:creationId xmlns:a16="http://schemas.microsoft.com/office/drawing/2014/main" id="{14525D09-DF4B-465A-B4C9-783517805A7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503961" y="1470992"/>
            <a:ext cx="3610734" cy="31406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7D283DF-8242-C10D-B0D1-09338E9E6A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" y="5559814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151ED-F9C6-1A31-E49C-CF0C212E3649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ABD29F-1CE9-43BB-ED10-8D84929E1490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9AD2B9B-38F2-85DB-128A-663ED648E7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573F9DB-B587-9A5D-CF7A-1D99D60FA5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8A868E1-5B30-D51A-A04D-12D84A5720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59833" y="6406805"/>
            <a:ext cx="417076" cy="41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78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469F77-D9CE-43A9-9C6F-5AAA6A3F0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9001"/>
            <a:ext cx="12192000" cy="3429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86394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8" y="4798258"/>
            <a:ext cx="2999232" cy="8239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8624" y="4798258"/>
            <a:ext cx="2998301" cy="8239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459252" y="4798258"/>
            <a:ext cx="2998301" cy="8239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BEC01-9F7C-4B40-BB53-7CA71DF23C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9598" y="1550504"/>
            <a:ext cx="2999232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2BC0D6B-8A30-40EF-AB45-BA0C194FDCF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8624" y="1550504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957662E-BFCE-48F9-862F-DF8DE0A7D64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252" y="1553128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5BDAE9-2EE5-417A-9702-2126C0F04950}"/>
              </a:ext>
            </a:extLst>
          </p:cNvPr>
          <p:cNvSpPr/>
          <p:nvPr userDrawn="1"/>
        </p:nvSpPr>
        <p:spPr>
          <a:xfrm>
            <a:off x="609599" y="5803184"/>
            <a:ext cx="2999232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FACE2B-855B-4182-8D2E-A51A7C6753C7}"/>
              </a:ext>
            </a:extLst>
          </p:cNvPr>
          <p:cNvSpPr/>
          <p:nvPr userDrawn="1"/>
        </p:nvSpPr>
        <p:spPr>
          <a:xfrm>
            <a:off x="4578624" y="5803184"/>
            <a:ext cx="2999232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DF8AB8-AA0C-4401-B96D-6646282EAFA9}"/>
              </a:ext>
            </a:extLst>
          </p:cNvPr>
          <p:cNvSpPr/>
          <p:nvPr userDrawn="1"/>
        </p:nvSpPr>
        <p:spPr>
          <a:xfrm>
            <a:off x="8459252" y="5803184"/>
            <a:ext cx="2999232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92FF717-122B-1601-73F6-FB3BCE7D9C2D}"/>
              </a:ext>
            </a:extLst>
          </p:cNvPr>
          <p:cNvSpPr txBox="1">
            <a:spLocks/>
          </p:cNvSpPr>
          <p:nvPr userDrawn="1"/>
        </p:nvSpPr>
        <p:spPr>
          <a:xfrm>
            <a:off x="356616" y="6554624"/>
            <a:ext cx="3463048" cy="285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9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b="0" dirty="0">
                <a:solidFill>
                  <a:srgbClr val="414042"/>
                </a:solidFill>
                <a:latin typeface="+mn-lt"/>
                <a:cs typeface="Arial" panose="020B0604020202020204" pitchFamily="34" charset="0"/>
              </a:rPr>
              <a:t>LOCKHEED MARTIN PROPRIETARY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C4113-64BB-2281-3CD4-188D84A29053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5EEB2D-E691-70BC-405E-529B61FB5755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ADFE6E8-F7C0-F27C-A31C-71D19B73CF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2F1BEB7-1812-206D-55CA-CAB3EA07CB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024E17D-A5A6-7CF6-91A8-ACB9B3A328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5200" y="1222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7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5302002"/>
            <a:ext cx="2998301" cy="380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AB518037-F3DC-4DBC-AA07-629E5C8B49FC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09600" y="1258606"/>
            <a:ext cx="10972800" cy="393886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CAD2B6C-443D-28D6-F18D-18F54A9EE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804362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E8E3D-FE09-94E9-C0A5-1D128FCB7DFA}"/>
              </a:ext>
            </a:extLst>
          </p:cNvPr>
          <p:cNvSpPr txBox="1"/>
          <p:nvPr userDrawn="1"/>
        </p:nvSpPr>
        <p:spPr>
          <a:xfrm>
            <a:off x="73152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262F21B-0B63-7115-CCAE-E9756DEE50B4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A1395C7-7F75-9003-C19E-F396BCF795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8BA3EA9-8BE2-D239-E675-953F400CD0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8E5B1E3-DC7F-AD24-9663-3E8E666C49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5200" y="1222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46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1005457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59C980-A3D0-4EF8-9506-D402C5A6FD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41438"/>
            <a:ext cx="5324061" cy="3970097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4CC6854-32C8-45B3-B6D3-D2E66DF7D4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8341" y="1341437"/>
            <a:ext cx="5324061" cy="3970097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AA9E988-1444-5E64-B3F6-5961B2D42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31FCC-A5FE-C2CF-C0F7-E0ECA558E390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E799F3-0105-D4F5-2A10-3A2D232FE321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888A23-E8BF-C653-E080-C03FF0267A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8BDB6B-4744-221D-65BB-5E02E22DD6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1B4D1F6-BB99-C6B5-939C-C415E4740D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5200" y="1222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66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1D4684-8BB0-4FE9-B1CB-B9F65E4F9DC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3429000"/>
            <a:ext cx="12192000" cy="34289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DA89AA-3199-43A5-B716-88F9B206E8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B37C666-26F7-4F2C-92CE-67B0C3E5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6E546E26-95A4-4F81-AEA4-F78B3F1908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96851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FFA57FE-AEF6-472C-8D21-CC48F53E9B2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84102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F76341-4282-6E92-E5C4-7B19444CA503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088008-B6B4-3C0F-C6FA-06158D9DE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110EBA-7F3C-ABFE-5131-BCF5E19F04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9C3C0EA-0D36-874F-D760-13534132B0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5200" y="1222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84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Photo with Tex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1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9B4C5E7-2BAE-493F-BBFD-70C9914341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60634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54C5A27-7B3C-4273-A211-4F8CF1D0C8A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882808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C816A4C0-7387-4691-A213-8237D3C5C1F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54007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43098FF-AC40-42B4-B12D-6ECFA4F080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886120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3F9BCE2-3ADE-4F3D-B650-E42610BAF8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9540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7F0C345-FD44-4CB9-AA15-F9A7B0CA6D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441714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14A06D38-ACF1-4C38-B96C-4A022CD87DC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2913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E961B3A-4844-482D-8E3E-7A2D4FC915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45026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E71B3E1-54DA-4FBD-B4D4-E14162E1B8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3208" y="1619941"/>
            <a:ext cx="3657600" cy="3657600"/>
          </a:xfrm>
          <a:prstGeom prst="rect">
            <a:avLst/>
          </a:prstGeom>
          <a:solidFill>
            <a:srgbClr val="003478"/>
          </a:solidFill>
        </p:spPr>
        <p:txBody>
          <a:bodyPr lIns="365760" rIns="365760" anchor="ctr"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386BB78-113E-72A3-1A10-779C47F4D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3AE62-3C01-8F04-8AE0-E82868DB4A24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B5D350-1A27-77BE-47AC-DCEE751C6CD0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D67B799-DF81-7A0A-01E6-67549428F1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BB3341-6060-3DCE-A3AF-B7CF17E793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D24A33D-2AAA-E482-8BD6-DC1EE7ABCC1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25200" y="1222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49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DA1EC3D-7B9C-3398-9E1A-1F133E3BD2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8310" y="110911"/>
            <a:ext cx="914400" cy="914400"/>
          </a:xfrm>
          <a:prstGeom prst="rect">
            <a:avLst/>
          </a:prstGeom>
        </p:spPr>
      </p:pic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673C045F-876A-487E-9097-CF25663536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648" y="1331304"/>
            <a:ext cx="10962862" cy="370783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 marL="3657600" indent="0">
              <a:buNone/>
              <a:defRPr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6E007D-4A49-4350-A5D2-296D7DED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8CA206A-CB1D-4E4E-8256-938ED74FCA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910" y="5206735"/>
            <a:ext cx="510802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  <a:lvl2pPr marL="457200" indent="0">
              <a:buNone/>
              <a:defRPr sz="1000">
                <a:latin typeface="Arial Nova Cond" panose="020B0604020202020204" pitchFamily="34" charset="0"/>
              </a:defRPr>
            </a:lvl2pPr>
            <a:lvl3pPr marL="914400" indent="0">
              <a:buNone/>
              <a:defRPr sz="1000">
                <a:latin typeface="Arial Nova Cond" panose="020B0604020202020204" pitchFamily="34" charset="0"/>
              </a:defRPr>
            </a:lvl3pPr>
            <a:lvl4pPr marL="1371600" indent="0">
              <a:buNone/>
              <a:defRPr sz="1000">
                <a:latin typeface="Arial Nova Cond" panose="020B0604020202020204" pitchFamily="34" charset="0"/>
              </a:defRPr>
            </a:lvl4pPr>
            <a:lvl5pPr marL="1828800" indent="0">
              <a:buNone/>
              <a:defRPr sz="1000">
                <a:latin typeface="Arial Nova Cond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Footnote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04CEAC4-5E47-14AB-3A81-6C2468206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message here.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53AF9-EF5E-6A8C-1936-5C5C44F3A041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3D7B4C-A8BD-CA0A-39C7-70654FA9A900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3327F8-CE74-766B-34BA-3C89A37673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55EA6B2-31CC-7173-E4C0-1699369D1F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4122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DA1EC3D-7B9C-3398-9E1A-1F133E3BD2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8310" y="110911"/>
            <a:ext cx="914400" cy="914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E6E007D-4A49-4350-A5D2-296D7DED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53AF9-EF5E-6A8C-1936-5C5C44F3A041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 dirty="0">
              <a:solidFill>
                <a:srgbClr val="003478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3D7B4C-A8BD-CA0A-39C7-70654FA9A900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3327F8-CE74-766B-34BA-3C89A37673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55EA6B2-31CC-7173-E4C0-1699369D1F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CE567-53AE-77DD-D201-A9618409252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1412874"/>
            <a:ext cx="10983913" cy="479609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3622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60E2-4A59-41CF-9D25-3932C8732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511" y="3009440"/>
            <a:ext cx="9218621" cy="650277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Transition Slide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064096-BC33-4BE5-921C-3C44EFC9E5AC}"/>
              </a:ext>
            </a:extLst>
          </p:cNvPr>
          <p:cNvCxnSpPr>
            <a:cxnSpLocks/>
          </p:cNvCxnSpPr>
          <p:nvPr userDrawn="1"/>
        </p:nvCxnSpPr>
        <p:spPr>
          <a:xfrm>
            <a:off x="5406021" y="4128578"/>
            <a:ext cx="1371600" cy="0"/>
          </a:xfrm>
          <a:prstGeom prst="line">
            <a:avLst/>
          </a:prstGeom>
          <a:ln w="57150">
            <a:solidFill>
              <a:srgbClr val="0034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6B65DF-9B64-E70A-052A-A30932F37175}"/>
              </a:ext>
            </a:extLst>
          </p:cNvPr>
          <p:cNvCxnSpPr>
            <a:cxnSpLocks/>
          </p:cNvCxnSpPr>
          <p:nvPr userDrawn="1"/>
        </p:nvCxnSpPr>
        <p:spPr>
          <a:xfrm>
            <a:off x="5406021" y="5287621"/>
            <a:ext cx="1371600" cy="0"/>
          </a:xfrm>
          <a:prstGeom prst="line">
            <a:avLst/>
          </a:prstGeom>
          <a:ln w="57150">
            <a:solidFill>
              <a:srgbClr val="0034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5AA5C21-915C-4207-ED0A-4C26A06631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34621" y="42509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35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20CF70-981B-D172-D2B4-88B5B0BEA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20824" y="2670048"/>
            <a:ext cx="8092440" cy="12222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460CF4-DBE1-18DA-C668-B6238C4ABE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270" y="633662"/>
            <a:ext cx="2089485" cy="208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53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9B9DF0C-EC2E-470C-9E6C-6675A5570B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83512"/>
            <a:ext cx="12191999" cy="775976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54044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512136" y="481099"/>
            <a:ext cx="6618169" cy="560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cap="all" baseline="0">
                <a:solidFill>
                  <a:schemeClr val="accent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en-US" dirty="0"/>
              <a:t>CLICK TO ENTER HEADER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54763" y="2737125"/>
            <a:ext cx="4625974" cy="29616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4000" kern="1200" cap="all" baseline="0">
                <a:solidFill>
                  <a:schemeClr val="accent2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en-US" dirty="0"/>
              <a:t>ADD MESSAGE                HERE.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533399" y="1311425"/>
            <a:ext cx="6096000" cy="438736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rgbClr val="63666A"/>
                </a:solidFill>
                <a:latin typeface="+mn-lt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 marL="3657600" indent="0">
              <a:buNone/>
              <a:defRPr/>
            </a:lvl9pPr>
          </a:lstStyle>
          <a:p>
            <a:pPr lvl="0"/>
            <a:r>
              <a:rPr lang="en-US" dirty="0"/>
              <a:t>Click to enter text.</a:t>
            </a:r>
          </a:p>
        </p:txBody>
      </p:sp>
    </p:spTree>
    <p:extLst>
      <p:ext uri="{BB962C8B-B14F-4D97-AF65-F5344CB8AC3E}">
        <p14:creationId xmlns:p14="http://schemas.microsoft.com/office/powerpoint/2010/main" val="2581535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AB22CCF-A890-4C55-96CB-07D7485B3363}"/>
              </a:ext>
            </a:extLst>
          </p:cNvPr>
          <p:cNvSpPr txBox="1">
            <a:spLocks/>
          </p:cNvSpPr>
          <p:nvPr userDrawn="1"/>
        </p:nvSpPr>
        <p:spPr>
          <a:xfrm>
            <a:off x="356616" y="6556248"/>
            <a:ext cx="3463048" cy="285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9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b="0" dirty="0">
                <a:solidFill>
                  <a:srgbClr val="414042"/>
                </a:solidFill>
                <a:latin typeface="+mn-lt"/>
                <a:cs typeface="Arial" panose="020B0604020202020204" pitchFamily="34" charset="0"/>
              </a:rPr>
              <a:t>LOCKHEED MARTIN PROPRIETARY INFORMATION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B2E28-BD22-6AFA-96B3-88587AC39C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032375" y="0"/>
            <a:ext cx="2155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Lockheed Martin Proprietary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E31FF-CA9A-16D1-7ABF-B1BEB711AB8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75" y="6705600"/>
            <a:ext cx="2155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Lockheed Martin 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1129959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80" r:id="rId16"/>
    <p:sldLayoutId id="2147483676" r:id="rId17"/>
    <p:sldLayoutId id="2147483677" r:id="rId18"/>
    <p:sldLayoutId id="2147483678" r:id="rId19"/>
    <p:sldLayoutId id="214748367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3912">
          <p15:clr>
            <a:srgbClr val="F26B43"/>
          </p15:clr>
        </p15:guide>
        <p15:guide id="7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8AE04-5E21-D84E-34B6-C0EA467983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SPY7-XXXXX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C0FD0-50E5-0255-1C50-71C8FCBA2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Presenter 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FEE77E-3B5B-1B52-0A43-30996A88E5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8" y="6068095"/>
            <a:ext cx="3104322" cy="286739"/>
          </a:xfrm>
        </p:spPr>
        <p:txBody>
          <a:bodyPr/>
          <a:lstStyle/>
          <a:p>
            <a:r>
              <a:rPr lang="en-US" dirty="0"/>
              <a:t>Date Posted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CF393D-E0A5-FAE1-0CC8-4C37C5E4B6D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0079" y="2743200"/>
            <a:ext cx="8937553" cy="881137"/>
          </a:xfrm>
        </p:spPr>
        <p:txBody>
          <a:bodyPr/>
          <a:lstStyle/>
          <a:p>
            <a:r>
              <a:rPr lang="en-US" dirty="0"/>
              <a:t>Software Design Review Template</a:t>
            </a:r>
          </a:p>
          <a:p>
            <a:r>
              <a:rPr lang="en-US" sz="4800" dirty="0">
                <a:solidFill>
                  <a:srgbClr val="FF0000"/>
                </a:solidFill>
              </a:rPr>
              <a:t>Copy this ppt before you edit</a:t>
            </a:r>
          </a:p>
        </p:txBody>
      </p:sp>
    </p:spTree>
    <p:extLst>
      <p:ext uri="{BB962C8B-B14F-4D97-AF65-F5344CB8AC3E}">
        <p14:creationId xmlns:p14="http://schemas.microsoft.com/office/powerpoint/2010/main" val="121394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D923363-6DDA-D84C-EE91-EDF5F344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0B837F2-C7FD-6D7F-A368-140343ACD43B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424281744"/>
              </p:ext>
            </p:extLst>
          </p:nvPr>
        </p:nvGraphicFramePr>
        <p:xfrm>
          <a:off x="609599" y="1412875"/>
          <a:ext cx="108708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3120510348"/>
                    </a:ext>
                  </a:extLst>
                </a:gridCol>
                <a:gridCol w="3804557">
                  <a:extLst>
                    <a:ext uri="{9D8B030D-6E8A-4147-A177-3AD203B41FA5}">
                      <a16:colId xmlns:a16="http://schemas.microsoft.com/office/drawing/2014/main" val="27348169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66679875"/>
                    </a:ext>
                  </a:extLst>
                </a:gridCol>
                <a:gridCol w="3797338">
                  <a:extLst>
                    <a:ext uri="{9D8B030D-6E8A-4147-A177-3AD203B41FA5}">
                      <a16:colId xmlns:a16="http://schemas.microsoft.com/office/drawing/2014/main" val="541802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Date.Rev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Description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Reviewer Initials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Reviewer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053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2025.08.19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Initial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&lt;Reviewed with Comments to Address on ____&gt;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1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Address Comments on 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30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80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2D7376-B11C-DFD8-43F4-C21692BF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4671"/>
            <a:ext cx="10984633" cy="684362"/>
          </a:xfrm>
        </p:spPr>
        <p:txBody>
          <a:bodyPr/>
          <a:lstStyle/>
          <a:p>
            <a:r>
              <a:rPr lang="en-US" dirty="0"/>
              <a:t>Task Description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1CDE24-FA31-5162-EB4C-A672D6C35A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1412875"/>
            <a:ext cx="10983913" cy="3683000"/>
          </a:xfrm>
        </p:spPr>
        <p:txBody>
          <a:bodyPr/>
          <a:lstStyle/>
          <a:p>
            <a:r>
              <a:rPr lang="en-US" dirty="0"/>
              <a:t>Creating a standalone </a:t>
            </a:r>
            <a:r>
              <a:rPr lang="en-US" dirty="0" err="1"/>
              <a:t>DataLogger</a:t>
            </a:r>
            <a:r>
              <a:rPr lang="en-US" dirty="0"/>
              <a:t> component to handle text logging, binary trace logging, and DXR</a:t>
            </a:r>
          </a:p>
          <a:p>
            <a:pPr lvl="1"/>
            <a:r>
              <a:rPr lang="en-US" dirty="0"/>
              <a:t>What is driving this change? </a:t>
            </a:r>
          </a:p>
          <a:p>
            <a:pPr lvl="2"/>
            <a:r>
              <a:rPr lang="en-US" dirty="0"/>
              <a:t>Technical Debt</a:t>
            </a:r>
          </a:p>
          <a:p>
            <a:pPr lvl="3"/>
            <a:r>
              <a:rPr lang="en-US" dirty="0"/>
              <a:t>RSG/RTG and SMS each have their own implementation of logging components using old libraries and designs</a:t>
            </a:r>
          </a:p>
          <a:p>
            <a:pPr lvl="3"/>
            <a:r>
              <a:rPr lang="en-US" dirty="0"/>
              <a:t>Creating a new library allows for modernization</a:t>
            </a:r>
          </a:p>
          <a:p>
            <a:pPr lvl="2"/>
            <a:r>
              <a:rPr lang="en-US" dirty="0"/>
              <a:t>Performance</a:t>
            </a:r>
          </a:p>
          <a:p>
            <a:pPr lvl="3"/>
            <a:r>
              <a:rPr lang="en-US" dirty="0"/>
              <a:t>Comprehensive unit testing and benchmarking</a:t>
            </a:r>
          </a:p>
          <a:p>
            <a:pPr lvl="4"/>
            <a:r>
              <a:rPr lang="en-US" dirty="0"/>
              <a:t>~1000 ns per log including thread safety and process safety through file locks</a:t>
            </a:r>
          </a:p>
          <a:p>
            <a:pPr lvl="4"/>
            <a:r>
              <a:rPr lang="en-US" dirty="0"/>
              <a:t>300-500 ns per binary payload for ‘local </a:t>
            </a:r>
            <a:r>
              <a:rPr lang="en-US" dirty="0" err="1"/>
              <a:t>dxr</a:t>
            </a:r>
            <a:r>
              <a:rPr lang="en-US" dirty="0"/>
              <a:t>’ logging</a:t>
            </a:r>
          </a:p>
          <a:p>
            <a:pPr lvl="4"/>
            <a:r>
              <a:rPr lang="en-US" dirty="0"/>
              <a:t>No DXR benchmarks currently due to the </a:t>
            </a:r>
            <a:r>
              <a:rPr lang="en-US" dirty="0" err="1"/>
              <a:t>dxr</a:t>
            </a:r>
            <a:r>
              <a:rPr lang="en-US" dirty="0"/>
              <a:t> daemon and </a:t>
            </a:r>
            <a:r>
              <a:rPr lang="en-US" dirty="0" err="1"/>
              <a:t>lrc</a:t>
            </a:r>
            <a:r>
              <a:rPr lang="en-US" dirty="0"/>
              <a:t> setup</a:t>
            </a:r>
          </a:p>
          <a:p>
            <a:pPr lvl="1"/>
            <a:r>
              <a:rPr lang="en-US" dirty="0"/>
              <a:t>What is the minimal definition of done?</a:t>
            </a:r>
          </a:p>
          <a:p>
            <a:pPr lvl="1"/>
            <a:r>
              <a:rPr lang="en-US" dirty="0"/>
              <a:t>Is this part of a larger feature/improvement?</a:t>
            </a:r>
          </a:p>
          <a:p>
            <a:r>
              <a:rPr lang="en-US" dirty="0"/>
              <a:t>How does this fit in with know ongoing/future work?</a:t>
            </a:r>
          </a:p>
        </p:txBody>
      </p:sp>
    </p:spTree>
    <p:extLst>
      <p:ext uri="{BB962C8B-B14F-4D97-AF65-F5344CB8AC3E}">
        <p14:creationId xmlns:p14="http://schemas.microsoft.com/office/powerpoint/2010/main" val="377623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28318-CF5F-37F6-58AE-86A564DB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487DFE-E673-E8CB-719A-61B66308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4671"/>
            <a:ext cx="10984633" cy="684362"/>
          </a:xfrm>
        </p:spPr>
        <p:txBody>
          <a:bodyPr/>
          <a:lstStyle/>
          <a:p>
            <a:r>
              <a:rPr lang="en-US" dirty="0"/>
              <a:t>Task Description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9A0BE6-63F2-28EA-73D9-33471D8A00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1412875"/>
            <a:ext cx="10983913" cy="3683000"/>
          </a:xfrm>
        </p:spPr>
        <p:txBody>
          <a:bodyPr/>
          <a:lstStyle/>
          <a:p>
            <a:pPr lvl="1"/>
            <a:r>
              <a:rPr lang="en-US" dirty="0"/>
              <a:t>What is the minimal definition of done?</a:t>
            </a:r>
          </a:p>
          <a:p>
            <a:pPr lvl="2"/>
            <a:r>
              <a:rPr lang="en-US" dirty="0" err="1"/>
              <a:t>DataLogger</a:t>
            </a:r>
            <a:r>
              <a:rPr lang="en-US" dirty="0"/>
              <a:t> component implemented on the </a:t>
            </a:r>
            <a:r>
              <a:rPr lang="en-US" dirty="0" err="1"/>
              <a:t>unclass</a:t>
            </a:r>
            <a:r>
              <a:rPr lang="en-US" dirty="0"/>
              <a:t> side and can compile on the class side</a:t>
            </a:r>
          </a:p>
          <a:p>
            <a:pPr lvl="2"/>
            <a:r>
              <a:rPr lang="en-US" dirty="0"/>
              <a:t>Coverage as close to 100% as feasible</a:t>
            </a:r>
          </a:p>
          <a:p>
            <a:pPr lvl="2"/>
            <a:r>
              <a:rPr lang="en-US" dirty="0"/>
              <a:t>DXR unit test and benchmarks investigated</a:t>
            </a:r>
          </a:p>
          <a:p>
            <a:pPr lvl="1"/>
            <a:r>
              <a:rPr lang="en-US" dirty="0"/>
              <a:t>Is this part of a larger feature/improvement?</a:t>
            </a:r>
          </a:p>
          <a:p>
            <a:pPr lvl="2"/>
            <a:r>
              <a:rPr lang="en-US" dirty="0"/>
              <a:t>Ongoing implementation of common libraries within the platform</a:t>
            </a:r>
          </a:p>
          <a:p>
            <a:r>
              <a:rPr lang="en-US" dirty="0"/>
              <a:t>How does this fit in with know ongoing/future work?</a:t>
            </a:r>
          </a:p>
        </p:txBody>
      </p:sp>
    </p:spTree>
    <p:extLst>
      <p:ext uri="{BB962C8B-B14F-4D97-AF65-F5344CB8AC3E}">
        <p14:creationId xmlns:p14="http://schemas.microsoft.com/office/powerpoint/2010/main" val="61712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2D7376-B11C-DFD8-43F4-C21692BF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Software Design Details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1CDE24-FA31-5162-EB4C-A672D6C35A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Description of the intended software change</a:t>
            </a:r>
          </a:p>
          <a:p>
            <a:pPr lvl="1"/>
            <a:r>
              <a:rPr lang="en-US" dirty="0" err="1"/>
              <a:t>TextLogger</a:t>
            </a:r>
            <a:r>
              <a:rPr lang="en-US" dirty="0"/>
              <a:t>, </a:t>
            </a:r>
            <a:r>
              <a:rPr lang="en-US" dirty="0" err="1"/>
              <a:t>TraceLogger</a:t>
            </a:r>
            <a:r>
              <a:rPr lang="en-US" dirty="0"/>
              <a:t>, </a:t>
            </a:r>
            <a:r>
              <a:rPr lang="en-US" dirty="0" err="1"/>
              <a:t>DXRLogger</a:t>
            </a:r>
            <a:r>
              <a:rPr lang="en-US" dirty="0"/>
              <a:t> base logging classes created</a:t>
            </a:r>
          </a:p>
          <a:p>
            <a:pPr lvl="1"/>
            <a:r>
              <a:rPr lang="en-US" dirty="0" err="1"/>
              <a:t>DataLogger</a:t>
            </a:r>
            <a:r>
              <a:rPr lang="en-US" dirty="0"/>
              <a:t> static façade created</a:t>
            </a:r>
          </a:p>
          <a:p>
            <a:pPr lvl="1"/>
            <a:r>
              <a:rPr lang="en-US" dirty="0" err="1"/>
              <a:t>ProcessLock</a:t>
            </a:r>
            <a:r>
              <a:rPr lang="en-US" dirty="0"/>
              <a:t> implemented using </a:t>
            </a:r>
            <a:r>
              <a:rPr lang="en-US" dirty="0" err="1"/>
              <a:t>fcntl</a:t>
            </a:r>
            <a:r>
              <a:rPr lang="en-US" dirty="0"/>
              <a:t>(file locking) to allow safe locking cross process and cross node on NFS mounts</a:t>
            </a:r>
          </a:p>
        </p:txBody>
      </p:sp>
    </p:spTree>
    <p:extLst>
      <p:ext uri="{BB962C8B-B14F-4D97-AF65-F5344CB8AC3E}">
        <p14:creationId xmlns:p14="http://schemas.microsoft.com/office/powerpoint/2010/main" val="4256187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660A-F586-F6D9-6261-3934715A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AD62D6-E85C-2B21-0DFF-130D6C35888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983" y="216970"/>
            <a:ext cx="8812034" cy="623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15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2D7376-B11C-DFD8-43F4-C21692BF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Plan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1CDE24-FA31-5162-EB4C-A672D6C35A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Automated tests</a:t>
            </a:r>
          </a:p>
          <a:p>
            <a:pPr lvl="1"/>
            <a:r>
              <a:rPr lang="en-US" dirty="0"/>
              <a:t>L1 tests – unit tests</a:t>
            </a:r>
          </a:p>
          <a:p>
            <a:pPr lvl="1"/>
            <a:r>
              <a:rPr lang="en-US" dirty="0"/>
              <a:t>L2 tests – test of component through its public API </a:t>
            </a:r>
          </a:p>
          <a:p>
            <a:pPr lvl="1"/>
            <a:r>
              <a:rPr lang="en-US" dirty="0"/>
              <a:t>Existing tests leveraged?</a:t>
            </a:r>
          </a:p>
          <a:p>
            <a:pPr lvl="2"/>
            <a:r>
              <a:rPr lang="en-US" dirty="0"/>
              <a:t>None existing</a:t>
            </a:r>
          </a:p>
          <a:p>
            <a:pPr lvl="1"/>
            <a:r>
              <a:rPr lang="en-US" dirty="0"/>
              <a:t>Test coverage expected?</a:t>
            </a:r>
          </a:p>
          <a:p>
            <a:pPr lvl="2"/>
            <a:r>
              <a:rPr lang="en-US" dirty="0"/>
              <a:t>80-100% pending DXR unit-test capabilities</a:t>
            </a:r>
          </a:p>
          <a:p>
            <a:r>
              <a:rPr lang="en-US" dirty="0"/>
              <a:t>Desktop test</a:t>
            </a:r>
          </a:p>
          <a:p>
            <a:pPr lvl="1"/>
            <a:r>
              <a:rPr lang="en-US" dirty="0"/>
              <a:t>TBD – DXR test procedure</a:t>
            </a:r>
          </a:p>
          <a:p>
            <a:r>
              <a:rPr lang="en-US" dirty="0"/>
              <a:t>Test shot</a:t>
            </a:r>
          </a:p>
          <a:p>
            <a:pPr lvl="1"/>
            <a:r>
              <a:rPr lang="en-US" dirty="0"/>
              <a:t>N/A</a:t>
            </a:r>
          </a:p>
        </p:txBody>
      </p:sp>
    </p:spTree>
    <p:extLst>
      <p:ext uri="{BB962C8B-B14F-4D97-AF65-F5344CB8AC3E}">
        <p14:creationId xmlns:p14="http://schemas.microsoft.com/office/powerpoint/2010/main" val="27906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2D7376-B11C-DFD8-43F4-C21692BF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4671"/>
            <a:ext cx="10984633" cy="684362"/>
          </a:xfrm>
        </p:spPr>
        <p:txBody>
          <a:bodyPr/>
          <a:lstStyle/>
          <a:p>
            <a:r>
              <a:rPr lang="en-US" dirty="0"/>
              <a:t>Estimate of Complexity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1CDE24-FA31-5162-EB4C-A672D6C35A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1412874"/>
            <a:ext cx="10983913" cy="4125563"/>
          </a:xfrm>
        </p:spPr>
        <p:txBody>
          <a:bodyPr/>
          <a:lstStyle/>
          <a:p>
            <a:r>
              <a:rPr lang="en-US" dirty="0"/>
              <a:t>Estimated timeline</a:t>
            </a:r>
          </a:p>
          <a:p>
            <a:r>
              <a:rPr lang="en-US" dirty="0"/>
              <a:t>Identify blockers or unknowns</a:t>
            </a:r>
          </a:p>
          <a:p>
            <a:pPr lvl="1"/>
            <a:r>
              <a:rPr lang="en-US" dirty="0"/>
              <a:t>Platform repo is not currently part of the CM/LSWE space, it will need to undergo QA/BR process before code can be used</a:t>
            </a:r>
          </a:p>
          <a:p>
            <a:r>
              <a:rPr lang="en-US" dirty="0"/>
              <a:t>Identify potential risk areas</a:t>
            </a:r>
          </a:p>
          <a:p>
            <a:pPr lvl="1"/>
            <a:r>
              <a:rPr lang="en-US" dirty="0"/>
              <a:t>Changing public API of the logging library could lead to a large refactor when implementing in the products</a:t>
            </a:r>
          </a:p>
          <a:p>
            <a:r>
              <a:rPr lang="en-US" dirty="0"/>
              <a:t>Describe risk mitigations</a:t>
            </a:r>
          </a:p>
          <a:p>
            <a:pPr lvl="1"/>
            <a:r>
              <a:rPr lang="en-US" dirty="0"/>
              <a:t>Implementation of multiple different entry points(static façade, creational methods, </a:t>
            </a:r>
            <a:r>
              <a:rPr lang="en-US" dirty="0" err="1"/>
              <a:t>etc</a:t>
            </a:r>
            <a:r>
              <a:rPr lang="en-US" dirty="0"/>
              <a:t>) should allow products to continue to use the </a:t>
            </a:r>
            <a:r>
              <a:rPr lang="en-US" dirty="0" err="1"/>
              <a:t>DataLogger</a:t>
            </a:r>
            <a:r>
              <a:rPr lang="en-US" dirty="0"/>
              <a:t> in the same way they currently log</a:t>
            </a:r>
          </a:p>
        </p:txBody>
      </p:sp>
    </p:spTree>
    <p:extLst>
      <p:ext uri="{BB962C8B-B14F-4D97-AF65-F5344CB8AC3E}">
        <p14:creationId xmlns:p14="http://schemas.microsoft.com/office/powerpoint/2010/main" val="4252021915"/>
      </p:ext>
    </p:extLst>
  </p:cSld>
  <p:clrMapOvr>
    <a:masterClrMapping/>
  </p:clrMapOvr>
</p:sld>
</file>

<file path=ppt/theme/theme1.xml><?xml version="1.0" encoding="utf-8"?>
<a:theme xmlns:a="http://schemas.openxmlformats.org/drawingml/2006/main" name="LM RCSP 2023">
  <a:themeElements>
    <a:clrScheme name="Custom 20">
      <a:dk1>
        <a:srgbClr val="000000"/>
      </a:dk1>
      <a:lt1>
        <a:srgbClr val="FFFFFF"/>
      </a:lt1>
      <a:dk2>
        <a:srgbClr val="414042"/>
      </a:dk2>
      <a:lt2>
        <a:srgbClr val="F7F8F9"/>
      </a:lt2>
      <a:accent1>
        <a:srgbClr val="002F6C"/>
      </a:accent1>
      <a:accent2>
        <a:srgbClr val="00809E"/>
      </a:accent2>
      <a:accent3>
        <a:srgbClr val="00968F"/>
      </a:accent3>
      <a:accent4>
        <a:srgbClr val="F7D117"/>
      </a:accent4>
      <a:accent5>
        <a:srgbClr val="64B3E8"/>
      </a:accent5>
      <a:accent6>
        <a:srgbClr val="A4899F"/>
      </a:accent6>
      <a:hlink>
        <a:srgbClr val="0563C1"/>
      </a:hlink>
      <a:folHlink>
        <a:srgbClr val="A4899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ockheed Martin PowerPoint_2018_Blue-Title2" id="{FF18C928-1474-A540-8A09-1C36D92B1F60}" vid="{5E11714D-AF48-9E40-8241-CE818B50FA0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DEAB00D989A24B9B3FC03867220AC8" ma:contentTypeVersion="16" ma:contentTypeDescription="Create a new document." ma:contentTypeScope="" ma:versionID="3a0137c890d106e466766f544bb9c887">
  <xsd:schema xmlns:xsd="http://www.w3.org/2001/XMLSchema" xmlns:xs="http://www.w3.org/2001/XMLSchema" xmlns:p="http://schemas.microsoft.com/office/2006/metadata/properties" xmlns:ns2="38a88093-70ba-43a6-b88a-c75666a69429" xmlns:ns3="dbbc13ed-d7e7-43b1-b743-e7c88d56c942" targetNamespace="http://schemas.microsoft.com/office/2006/metadata/properties" ma:root="true" ma:fieldsID="e442f5499b8c2fc67034b6889bdff900" ns2:_="" ns3:_="">
    <xsd:import namespace="38a88093-70ba-43a6-b88a-c75666a69429"/>
    <xsd:import namespace="dbbc13ed-d7e7-43b1-b743-e7c88d56c9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Status" minOccurs="0"/>
                <xsd:element ref="ns2:Team" minOccurs="0"/>
                <xsd:element ref="ns2:Baseli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a88093-70ba-43a6-b88a-c75666a694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fb6dc33-a77e-4906-9653-fd9840b779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Status" ma:index="20" nillable="true" ma:displayName="Status" ma:format="Dropdown" ma:internalName="Status">
      <xsd:simpleType>
        <xsd:restriction base="dms:Choice">
          <xsd:enumeration value="Editing"/>
          <xsd:enumeration value="Up For Review"/>
          <xsd:enumeration value="Done"/>
        </xsd:restriction>
      </xsd:simpleType>
    </xsd:element>
    <xsd:element name="Team" ma:index="21" nillable="true" ma:displayName="Team" ma:format="Dropdown" ma:internalName="Team">
      <xsd:simpleType>
        <xsd:restriction base="dms:Choice">
          <xsd:enumeration value="RTG"/>
          <xsd:enumeration value="SMS"/>
        </xsd:restriction>
      </xsd:simpleType>
    </xsd:element>
    <xsd:element name="Baseline" ma:index="22" nillable="true" ma:displayName="Baseline" ma:format="Dropdown" ma:internalName="Baselin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Sidecar"/>
                    <xsd:enumeration value="ASEV"/>
                    <xsd:enumeration value="RCD"/>
                    <xsd:enumeration value="GUAM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c13ed-d7e7-43b1-b743-e7c88d56c94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2944849-060c-489e-9dac-6c434eebdb60}" ma:internalName="TaxCatchAll" ma:showField="CatchAllData" ma:web="dbbc13ed-d7e7-43b1-b743-e7c88d56c9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8a88093-70ba-43a6-b88a-c75666a69429">
      <Terms xmlns="http://schemas.microsoft.com/office/infopath/2007/PartnerControls"/>
    </lcf76f155ced4ddcb4097134ff3c332f>
    <TaxCatchAll xmlns="dbbc13ed-d7e7-43b1-b743-e7c88d56c942" xsi:nil="true"/>
    <Team xmlns="38a88093-70ba-43a6-b88a-c75666a69429" xsi:nil="true"/>
    <Status xmlns="38a88093-70ba-43a6-b88a-c75666a69429" xsi:nil="true"/>
    <Baseline xmlns="38a88093-70ba-43a6-b88a-c75666a69429" xsi:nil="true"/>
  </documentManagement>
</p:properties>
</file>

<file path=customXml/itemProps1.xml><?xml version="1.0" encoding="utf-8"?>
<ds:datastoreItem xmlns:ds="http://schemas.openxmlformats.org/officeDocument/2006/customXml" ds:itemID="{D277F94A-25A9-4887-89EB-673AFBECBD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a88093-70ba-43a6-b88a-c75666a69429"/>
    <ds:schemaRef ds:uri="dbbc13ed-d7e7-43b1-b743-e7c88d56c9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DA2A40-14A5-4AF0-8219-D91C9BFF42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9363BB-0BE7-4607-A04E-8125756B3AC0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dbbc13ed-d7e7-43b1-b743-e7c88d56c942"/>
    <ds:schemaRef ds:uri="38a88093-70ba-43a6-b88a-c75666a6942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411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Agency FB</vt:lpstr>
      <vt:lpstr>Arial</vt:lpstr>
      <vt:lpstr>Arial Nova Cond</vt:lpstr>
      <vt:lpstr>Calibri</vt:lpstr>
      <vt:lpstr>Symbol</vt:lpstr>
      <vt:lpstr>LM RCSP 2023</vt:lpstr>
      <vt:lpstr>PowerPoint Presentation</vt:lpstr>
      <vt:lpstr>PowerPoint Presentation</vt:lpstr>
      <vt:lpstr>Task Description</vt:lpstr>
      <vt:lpstr>Task Description</vt:lpstr>
      <vt:lpstr>Software Design Details</vt:lpstr>
      <vt:lpstr>PowerPoint Presentation</vt:lpstr>
      <vt:lpstr>Test Plan</vt:lpstr>
      <vt:lpstr>Estimate of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Ford, Jonathan (US)</dc:creator>
  <cp:lastModifiedBy>Ly, Steven  (US)</cp:lastModifiedBy>
  <cp:revision>140</cp:revision>
  <dcterms:created xsi:type="dcterms:W3CDTF">2024-04-16T11:50:11Z</dcterms:created>
  <dcterms:modified xsi:type="dcterms:W3CDTF">2026-07-28T02:45:16Z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2bc7c3-f152-4da1-98bd-f7a1bebdf752_Enabled">
    <vt:lpwstr>true</vt:lpwstr>
  </property>
  <property fmtid="{D5CDD505-2E9C-101B-9397-08002B2CF9AE}" pid="3" name="MSIP_Label_502bc7c3-f152-4da1-98bd-f7a1bebdf752_SetDate">
    <vt:lpwstr>2024-04-16T11:51:18Z</vt:lpwstr>
  </property>
  <property fmtid="{D5CDD505-2E9C-101B-9397-08002B2CF9AE}" pid="4" name="MSIP_Label_502bc7c3-f152-4da1-98bd-f7a1bebdf752_Method">
    <vt:lpwstr>Privileged</vt:lpwstr>
  </property>
  <property fmtid="{D5CDD505-2E9C-101B-9397-08002B2CF9AE}" pid="5" name="MSIP_Label_502bc7c3-f152-4da1-98bd-f7a1bebdf752_Name">
    <vt:lpwstr>Unrestricted</vt:lpwstr>
  </property>
  <property fmtid="{D5CDD505-2E9C-101B-9397-08002B2CF9AE}" pid="6" name="MSIP_Label_502bc7c3-f152-4da1-98bd-f7a1bebdf752_SiteId">
    <vt:lpwstr>b18f006c-b0fc-467d-b23a-a35b5695b5dc</vt:lpwstr>
  </property>
  <property fmtid="{D5CDD505-2E9C-101B-9397-08002B2CF9AE}" pid="7" name="MSIP_Label_502bc7c3-f152-4da1-98bd-f7a1bebdf752_ActionId">
    <vt:lpwstr>acf578d7-53ec-47d0-826d-0117eb9aa280</vt:lpwstr>
  </property>
  <property fmtid="{D5CDD505-2E9C-101B-9397-08002B2CF9AE}" pid="8" name="MSIP_Label_502bc7c3-f152-4da1-98bd-f7a1bebdf752_ContentBits">
    <vt:lpwstr>0</vt:lpwstr>
  </property>
  <property fmtid="{D5CDD505-2E9C-101B-9397-08002B2CF9AE}" pid="9" name="ContentTypeId">
    <vt:lpwstr>0x0101005EDEAB00D989A24B9B3FC03867220AC8</vt:lpwstr>
  </property>
  <property fmtid="{D5CDD505-2E9C-101B-9397-08002B2CF9AE}" pid="10" name="MediaServiceImageTags">
    <vt:lpwstr/>
  </property>
  <property fmtid="{D5CDD505-2E9C-101B-9397-08002B2CF9AE}" pid="11" name="Order">
    <vt:r8>75600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